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 Sold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565C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57C00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Electronics</c:v>
                  </c:pt>
                  <c:pt idx="1">
                    <c:v>Home Care</c:v>
                  </c:pt>
                  <c:pt idx="2">
                    <c:v>Personal Care</c:v>
                  </c:pt>
                  <c:pt idx="3">
                    <c:v>Grocery</c:v>
                  </c:pt>
                  <c:pt idx="4">
                    <c:v>Clothing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3115</c:v>
                </c:pt>
                <c:pt idx="1">
                  <c:v>3115</c:v>
                </c:pt>
                <c:pt idx="2">
                  <c:v>3088</c:v>
                </c:pt>
                <c:pt idx="3">
                  <c:v>3025</c:v>
                </c:pt>
                <c:pt idx="4">
                  <c:v>3002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00"/>
          <c:min val="29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Electronics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Bangalore</c:v>
                  </c:pt>
                  <c:pt idx="1">
                    <c:v>Mumbai</c:v>
                  </c:pt>
                  <c:pt idx="2">
                    <c:v>Delhi</c:v>
                  </c:pt>
                  <c:pt idx="3">
                    <c:v>Chennai</c:v>
                  </c:pt>
                  <c:pt idx="4">
                    <c:v>Pune</c:v>
                  </c:pt>
                  <c:pt idx="5">
                    <c:v>Hyderabad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559</c:v>
                </c:pt>
                <c:pt idx="1">
                  <c:v>521</c:v>
                </c:pt>
                <c:pt idx="2">
                  <c:v>532</c:v>
                </c:pt>
                <c:pt idx="3">
                  <c:v>512</c:v>
                </c:pt>
                <c:pt idx="4">
                  <c:v>481</c:v>
                </c:pt>
                <c:pt idx="5">
                  <c:v>510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Personal Care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Bangalore</c:v>
                  </c:pt>
                  <c:pt idx="1">
                    <c:v>Mumbai</c:v>
                  </c:pt>
                  <c:pt idx="2">
                    <c:v>Delhi</c:v>
                  </c:pt>
                  <c:pt idx="3">
                    <c:v>Chennai</c:v>
                  </c:pt>
                  <c:pt idx="4">
                    <c:v>Pune</c:v>
                  </c:pt>
                  <c:pt idx="5">
                    <c:v>Hyderabad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498</c:v>
                </c:pt>
                <c:pt idx="1">
                  <c:v>549</c:v>
                </c:pt>
                <c:pt idx="2">
                  <c:v>510</c:v>
                </c:pt>
                <c:pt idx="3">
                  <c:v>510</c:v>
                </c:pt>
                <c:pt idx="4">
                  <c:v>511</c:v>
                </c:pt>
                <c:pt idx="5">
                  <c:v>510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Home Care</c:v>
                </c:pt>
              </c:strCache>
            </c:strRef>
          </c:tx>
          <c:spPr>
            <a:solidFill>
              <a:srgbClr val="F57C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Bangalore</c:v>
                  </c:pt>
                  <c:pt idx="1">
                    <c:v>Mumbai</c:v>
                  </c:pt>
                  <c:pt idx="2">
                    <c:v>Delhi</c:v>
                  </c:pt>
                  <c:pt idx="3">
                    <c:v>Chennai</c:v>
                  </c:pt>
                  <c:pt idx="4">
                    <c:v>Pune</c:v>
                  </c:pt>
                  <c:pt idx="5">
                    <c:v>Hyderabad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512</c:v>
                </c:pt>
                <c:pt idx="1">
                  <c:v>530</c:v>
                </c:pt>
                <c:pt idx="2">
                  <c:v>524</c:v>
                </c:pt>
                <c:pt idx="3">
                  <c:v>478</c:v>
                </c:pt>
                <c:pt idx="4">
                  <c:v>549</c:v>
                </c:pt>
                <c:pt idx="5">
                  <c:v>522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80"/>
          <c:min val="45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Electronics</c:v>
                  </c:pt>
                  <c:pt idx="1">
                    <c:v>Home Care</c:v>
                  </c:pt>
                  <c:pt idx="2">
                    <c:v>Personal Care</c:v>
                  </c:pt>
                  <c:pt idx="3">
                    <c:v>Grocery</c:v>
                  </c:pt>
                  <c:pt idx="4">
                    <c:v>Clothing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944700</c:v>
                </c:pt>
                <c:pt idx="1">
                  <c:v>467250</c:v>
                </c:pt>
                <c:pt idx="2">
                  <c:v>463200</c:v>
                </c:pt>
                <c:pt idx="3">
                  <c:v>302500</c:v>
                </c:pt>
                <c:pt idx="4">
                  <c:v>740500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 ($)</c:v>
                </c:pt>
              </c:strCache>
            </c:strRef>
          </c:tx>
          <c:spPr>
            <a:solidFill>
              <a:srgbClr val="F57C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Electronics</c:v>
                  </c:pt>
                  <c:pt idx="1">
                    <c:v>Home Care</c:v>
                  </c:pt>
                  <c:pt idx="2">
                    <c:v>Personal Care</c:v>
                  </c:pt>
                  <c:pt idx="3">
                    <c:v>Grocery</c:v>
                  </c:pt>
                  <c:pt idx="4">
                    <c:v>Clothing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305000</c:v>
                </c:pt>
                <c:pt idx="1">
                  <c:v>135000</c:v>
                </c:pt>
                <c:pt idx="2">
                  <c:v>133000</c:v>
                </c:pt>
                <c:pt idx="3">
                  <c:v>77500</c:v>
                </c:pt>
                <c:pt idx="4">
                  <c:v>215000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0"/>
            <a:ext cx="36576" cy="51435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132320" y="457200"/>
            <a:ext cx="1737360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82296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300" kern="0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457200" y="141732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spc="200" kern="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5600" dirty="0"/>
          </a:p>
        </p:txBody>
      </p:sp>
      <p:sp>
        <p:nvSpPr>
          <p:cNvPr id="8" name="Text 5"/>
          <p:cNvSpPr/>
          <p:nvPr/>
        </p:nvSpPr>
        <p:spPr>
          <a:xfrm>
            <a:off x="457200" y="2331720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Cities  ·  Five Categories  ·  FY Sales Period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2788920"/>
            <a:ext cx="6217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2926080"/>
            <a:ext cx="14630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7C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57200" y="296265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15,345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457200" y="3337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Units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057400" y="2926080"/>
            <a:ext cx="14630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7C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2057400" y="296265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2057400" y="3337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657600" y="2926080"/>
            <a:ext cx="14630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7C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3657600" y="296265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3657600" y="3337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257800" y="2926080"/>
            <a:ext cx="14630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7C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257800" y="296265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~20%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5257800" y="3337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Share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995160" y="14630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Covers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7022592" y="1828800"/>
            <a:ext cx="109728" cy="109728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205472" y="17830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Indian Cities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7022592" y="2331720"/>
            <a:ext cx="109728" cy="109728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205472" y="228600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Product Categories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7022592" y="2834640"/>
            <a:ext cx="109728" cy="109728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205472" y="27889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Data Records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7022592" y="3337560"/>
            <a:ext cx="109728" cy="109728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05472" y="32918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$2.9M Revenue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7022592" y="3840480"/>
            <a:ext cx="109728" cy="109728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205472" y="37947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Period Analysis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Avenue Supermarts Limited  |  FY Period  |  Confidential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828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8288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D-MART</a:t>
            </a:r>
            <a:endParaRPr lang="en-US" sz="24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17920" y="1143000"/>
            <a:ext cx="2560320" cy="10058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65760" y="114300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365760" y="1143000"/>
            <a:ext cx="73152" cy="10972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48640" y="12161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48640" y="1563624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2002, by Radhakishan Damani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754880" y="114300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754880" y="1143000"/>
            <a:ext cx="73152" cy="109728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937760" y="12161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937760" y="1563624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370+ hypermarket stores across India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65760" y="251460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65760" y="2514600"/>
            <a:ext cx="73152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48640" y="25877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Sectors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548640" y="2935224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Grocery, Personal Care, Home Care, Electronics, Clothing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754880" y="251460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754880" y="2514600"/>
            <a:ext cx="73152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937760" y="25877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4937760" y="2935224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Low Prices (EDLP) retail model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365760" y="446227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covers FY sales performance across 6 Indian cities and 5 product categories.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828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8288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MARKET SHARE</a:t>
            </a:r>
            <a:endParaRPr lang="en-US" sz="2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051560"/>
          <a:ext cx="530352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371600"/>
          <a:ext cx="28346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731520"/>
                <a:gridCol w="7315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20.29%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Care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20.29%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 Care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3,088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20.12%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Grocery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19.71%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Clothing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7C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19.56%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2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Electronics &amp; Home Care lead with equal top share   ▼ Clothing marginally trails at 19.56%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828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8288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× CATEGORY SALES DATA — FY PERIOD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645920"/>
                <a:gridCol w="1371600"/>
                <a:gridCol w="2103120"/>
                <a:gridCol w="2103120"/>
              </a:tblGrid>
              <a:tr h="1316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Units Sold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($)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Profit ($)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131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Electronics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$167,700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$55,000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131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Care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$76,800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131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 Care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$74,700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131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Grocery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$48,000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131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57C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Clothing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$122,500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$35,000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131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Electronics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$156,300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$51,000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</a:tr>
              <a:tr h="131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Care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$79,500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$23,000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</a:tr>
              <a:tr h="131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 Care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$82,350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</a:tr>
              <a:tr h="131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Grocery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$51,000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</a:tr>
              <a:tr h="131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57C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Clothing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$125,500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$36,000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</a:tr>
              <a:tr h="131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Electronics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$144,300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$47,000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</a:tr>
              <a:tr h="131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Care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$82,350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</a:tr>
              <a:tr h="131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 Care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$76,650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</a:tr>
              <a:tr h="131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Grocery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$49,500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$12,500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</a:tr>
              <a:tr h="131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57C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Clothing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$130,000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$37,500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</a:tr>
              <a:tr h="131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Delhi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Electronics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$159,600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$52,000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8"/>
                    </a:solidFill>
                  </a:tcPr>
                </a:tc>
              </a:tr>
              <a:tr h="131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Delhi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Care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$78,600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$23,000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8"/>
                    </a:solidFill>
                  </a:tcPr>
                </a:tc>
              </a:tr>
              <a:tr h="131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Delhi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 Care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$76,500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8"/>
                    </a:solidFill>
                  </a:tcPr>
                </a:tc>
              </a:tr>
              <a:tr h="131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Delhi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Grocery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8"/>
                    </a:solidFill>
                  </a:tcPr>
                </a:tc>
              </a:tr>
              <a:tr h="131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Delhi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57C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Clothing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$117,250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$33,000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8"/>
                    </a:solidFill>
                  </a:tcPr>
                </a:tc>
              </a:tr>
              <a:tr h="131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Chennai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Electronics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$153,600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</a:tr>
              <a:tr h="131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Chennai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Care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$71,700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</a:tr>
              <a:tr h="131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Chennai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 Care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$76,500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</a:tr>
              <a:tr h="131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Chennai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Grocery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$53,000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</a:tr>
              <a:tr h="131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Chennai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57C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Clothing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$130,250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$37,500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E7"/>
                    </a:solidFill>
                  </a:tcPr>
                </a:tc>
              </a:tr>
              <a:tr h="131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Electronics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$153,000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</a:tr>
              <a:tr h="131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Care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$78,300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$23,000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</a:tr>
              <a:tr h="131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 Care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$76,500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</a:tr>
              <a:tr h="131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Grocery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$51,000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</a:tr>
              <a:tr h="131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Hyderabad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57C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Clothing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$125,000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$36,000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5F5"/>
                    </a:solidFill>
                  </a:tcPr>
                </a:tc>
              </a:tr>
              <a:tr h="1316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7C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15,345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$2,917,950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57C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$865,500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828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8288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HIGHLIGHTS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274320" y="1078992"/>
            <a:ext cx="393192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47472" y="1097280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TOP PERFORMERS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91056"/>
            <a:ext cx="256032" cy="25603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74320" y="1536192"/>
            <a:ext cx="3931920" cy="804672"/>
          </a:xfrm>
          <a:prstGeom prst="rect">
            <a:avLst/>
          </a:prstGeom>
          <a:solidFill>
            <a:srgbClr val="F0FFF4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658368" y="15544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658368" y="18562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· 559 units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51176"/>
            <a:ext cx="256032" cy="256032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274320" y="2496312"/>
            <a:ext cx="3931920" cy="804672"/>
          </a:xfrm>
          <a:prstGeom prst="rect">
            <a:avLst/>
          </a:prstGeom>
          <a:solidFill>
            <a:srgbClr val="F0FFF4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8"/>
          <p:cNvSpPr/>
          <p:nvPr/>
        </p:nvSpPr>
        <p:spPr>
          <a:xfrm>
            <a:off x="658368" y="25146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658368" y="28163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Care · 549 units</a:t>
            </a:r>
            <a:endParaRPr lang="en-US" sz="11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511296"/>
            <a:ext cx="256032" cy="256032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274320" y="3456432"/>
            <a:ext cx="3931920" cy="804672"/>
          </a:xfrm>
          <a:prstGeom prst="rect">
            <a:avLst/>
          </a:prstGeom>
          <a:solidFill>
            <a:srgbClr val="F0FFF4"/>
          </a:solidFill>
          <a:ln w="12700">
            <a:solidFill>
              <a:srgbClr val="D1FAE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1"/>
          <p:cNvSpPr/>
          <p:nvPr/>
        </p:nvSpPr>
        <p:spPr>
          <a:xfrm>
            <a:off x="658368" y="34747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Pune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658368" y="377647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Care · 549 units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4572000" y="1078992"/>
            <a:ext cx="0" cy="356616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4937760" y="1078992"/>
            <a:ext cx="393192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010912" y="1097280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UNDERPERFORMING</a:t>
            </a:r>
            <a:endParaRPr lang="en-US" sz="13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1591056"/>
            <a:ext cx="256032" cy="256032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4937760" y="1536192"/>
            <a:ext cx="3931920" cy="804672"/>
          </a:xfrm>
          <a:prstGeom prst="rect">
            <a:avLst/>
          </a:prstGeom>
          <a:solidFill>
            <a:srgbClr val="FFF5F5"/>
          </a:solidFill>
          <a:ln w="12700">
            <a:solidFill>
              <a:srgbClr val="FED7D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Text 17"/>
          <p:cNvSpPr/>
          <p:nvPr/>
        </p:nvSpPr>
        <p:spPr>
          <a:xfrm>
            <a:off x="5321808" y="15544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Pune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5321808" y="18562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· 481 units</a:t>
            </a:r>
            <a:endParaRPr lang="en-US" sz="11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2551176"/>
            <a:ext cx="256032" cy="256032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4937760" y="2496312"/>
            <a:ext cx="3931920" cy="804672"/>
          </a:xfrm>
          <a:prstGeom prst="rect">
            <a:avLst/>
          </a:prstGeom>
          <a:solidFill>
            <a:srgbClr val="FFF5F5"/>
          </a:solidFill>
          <a:ln w="12700">
            <a:solidFill>
              <a:srgbClr val="FED7D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Text 20"/>
          <p:cNvSpPr/>
          <p:nvPr/>
        </p:nvSpPr>
        <p:spPr>
          <a:xfrm>
            <a:off x="5321808" y="25146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</a:t>
            </a:r>
            <a:endParaRPr lang="en-US" sz="1400" dirty="0"/>
          </a:p>
        </p:txBody>
      </p:sp>
      <p:sp>
        <p:nvSpPr>
          <p:cNvPr id="29" name="Text 21"/>
          <p:cNvSpPr/>
          <p:nvPr/>
        </p:nvSpPr>
        <p:spPr>
          <a:xfrm>
            <a:off x="5321808" y="28163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· 469 units</a:t>
            </a:r>
            <a:endParaRPr lang="en-US" sz="1100" dirty="0"/>
          </a:p>
        </p:txBody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3480" y="3511296"/>
            <a:ext cx="256032" cy="256032"/>
          </a:xfrm>
          <a:prstGeom prst="rect">
            <a:avLst/>
          </a:prstGeom>
        </p:spPr>
      </p:pic>
      <p:sp>
        <p:nvSpPr>
          <p:cNvPr id="31" name="Shape 22"/>
          <p:cNvSpPr/>
          <p:nvPr/>
        </p:nvSpPr>
        <p:spPr>
          <a:xfrm>
            <a:off x="4937760" y="3456432"/>
            <a:ext cx="3931920" cy="804672"/>
          </a:xfrm>
          <a:prstGeom prst="rect">
            <a:avLst/>
          </a:prstGeom>
          <a:solidFill>
            <a:srgbClr val="FFF5F5"/>
          </a:solidFill>
          <a:ln w="12700">
            <a:solidFill>
              <a:srgbClr val="FED7D7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Text 23"/>
          <p:cNvSpPr/>
          <p:nvPr/>
        </p:nvSpPr>
        <p:spPr>
          <a:xfrm>
            <a:off x="5321808" y="34747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</a:t>
            </a:r>
            <a:endParaRPr lang="en-US" sz="1400" dirty="0"/>
          </a:p>
        </p:txBody>
      </p:sp>
      <p:sp>
        <p:nvSpPr>
          <p:cNvPr id="33" name="Text 24"/>
          <p:cNvSpPr/>
          <p:nvPr/>
        </p:nvSpPr>
        <p:spPr>
          <a:xfrm>
            <a:off x="5321808" y="377647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Care · 478 units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828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8288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× CATEGORY PERFORMANCE</a:t>
            </a:r>
            <a:endParaRPr lang="en-US" sz="2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051560"/>
          <a:ext cx="841248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 across 6 cities for top 3 product categories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828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8288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PROFIT ANALYSIS</a:t>
            </a:r>
            <a:endParaRPr lang="en-US" sz="2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051560"/>
          <a:ext cx="54864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6217920" y="1097280"/>
            <a:ext cx="2606040" cy="822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6217920" y="1097280"/>
            <a:ext cx="64008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400800" y="1133856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$2,917,950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400800" y="157276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6217920" y="2103120"/>
            <a:ext cx="2606040" cy="822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217920" y="2103120"/>
            <a:ext cx="64008" cy="8229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400800" y="2139696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$865,500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400800" y="257860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217920" y="3108960"/>
            <a:ext cx="2606040" cy="822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17920" y="3108960"/>
            <a:ext cx="64008" cy="82296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400800" y="3145536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29.67%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400800" y="358444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217920" y="4114800"/>
            <a:ext cx="2606040" cy="822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217920" y="4114800"/>
            <a:ext cx="64008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400800" y="4151376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6400800" y="459028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Category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828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8288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BCG MATRIX — PRODUCT CATEGORY ANALYSIS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Market Share  vs  Market Growth Rate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1325880"/>
            <a:ext cx="4023360" cy="1760220"/>
          </a:xfrm>
          <a:prstGeom prst="rect">
            <a:avLst/>
          </a:prstGeom>
          <a:solidFill>
            <a:srgbClr val="FFF9C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480560" y="1325880"/>
            <a:ext cx="4023360" cy="1760220"/>
          </a:xfrm>
          <a:prstGeom prst="rect">
            <a:avLst/>
          </a:prstGeom>
          <a:solidFill>
            <a:srgbClr val="C8E6C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3086100"/>
            <a:ext cx="4023360" cy="1760220"/>
          </a:xfrm>
          <a:prstGeom prst="rect">
            <a:avLst/>
          </a:prstGeom>
          <a:solidFill>
            <a:srgbClr val="FFCDD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480560" y="3086100"/>
            <a:ext cx="4023360" cy="1760220"/>
          </a:xfrm>
          <a:prstGeom prst="rect">
            <a:avLst/>
          </a:prstGeom>
          <a:solidFill>
            <a:srgbClr val="BBDE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14173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795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QUESTION MARKS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0" y="14173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STARS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31775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🐕 DOGS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0" y="31775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CASH COWS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8640" y="1764792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795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Growth · Low Share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795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Grocery (19.71%)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572000" y="1764792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Growth · High Share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(20.29%) · Home Care (20.29%)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48640" y="3525012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Growth · Low Share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(19.56%)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572000" y="3525012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Growth · High Share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Care (20.12%)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57200" y="491947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LOW                        RELATIVE MARKET SHARE                        HIGH →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0" y="1325880"/>
            <a:ext cx="4114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700" dirty="0"/>
          </a:p>
          <a:p>
            <a:pPr algn="ctr" indent="0" marL="0">
              <a:buNone/>
            </a:pP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endParaRPr lang="en-US" sz="700" dirty="0"/>
          </a:p>
          <a:p>
            <a:pPr algn="ctr" indent="0" marL="0">
              <a:buNone/>
            </a:pP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20" name="Shape 17"/>
          <p:cNvSpPr/>
          <p:nvPr/>
        </p:nvSpPr>
        <p:spPr>
          <a:xfrm>
            <a:off x="4480560" y="1325880"/>
            <a:ext cx="0" cy="352044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</p:sp>
      <p:sp>
        <p:nvSpPr>
          <p:cNvPr id="21" name="Shape 18"/>
          <p:cNvSpPr/>
          <p:nvPr/>
        </p:nvSpPr>
        <p:spPr>
          <a:xfrm>
            <a:off x="457200" y="3086100"/>
            <a:ext cx="80467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</p:sp>
      <p:sp>
        <p:nvSpPr>
          <p:cNvPr id="22" name="Text 19"/>
          <p:cNvSpPr/>
          <p:nvPr/>
        </p:nvSpPr>
        <p:spPr>
          <a:xfrm>
            <a:off x="365760" y="47731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unit share and growth potential across all 6 cities during FY period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828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8288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MODEL — RETURN ON INVESTMENT ANALYSIS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365760" y="98755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Category-level ROI derived from Revenue, Cost of Goods, and Profit data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65760" y="1325880"/>
            <a:ext cx="841248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3716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Formula:   ROI (%) = ( Net Profit ÷ Total Revenue ) × 100   |   Profit Margin = Net Profit ÷ Revenue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874520"/>
          <a:ext cx="84124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554480"/>
                <a:gridCol w="1463040"/>
                <a:gridCol w="1463040"/>
                <a:gridCol w="914400"/>
                <a:gridCol w="128016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($)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COGS ($)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Profit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ROI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City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$944,700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$639,700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$305,000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Bangalore 559u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$467,250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$332,250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$135,000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Pune 549u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 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$463,200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$330,200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$133,000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 549u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Grocery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$302,500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$225,000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$77,500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Chennai 530u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57C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Clothing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$740,500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$525,500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$215,000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Chennai/Pune 521u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/ AVG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$2,917,950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$2,052,650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57C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$865,500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7C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29.67%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Electronics leads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365760" y="4572000"/>
            <a:ext cx="265176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457200" y="459943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ROI:  Electronics 32.3%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200400" y="4572000"/>
            <a:ext cx="265176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3291840" y="459943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ROI:  Grocery 25.6%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035040" y="4572000"/>
            <a:ext cx="265176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6126480" y="459943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ROI:  29.67%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COGS estimated as Revenue − Net Profit. ROI = Net Profit ÷ Revenue × 100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8288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82880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65760" y="1143000"/>
            <a:ext cx="8412480" cy="10241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65760" y="1143000"/>
            <a:ext cx="64008" cy="10241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2920" y="1362456"/>
            <a:ext cx="566928" cy="56692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1380744"/>
            <a:ext cx="5669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88720" y="1234440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Success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188720" y="1581912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Bangalore's Electronics strategy (559 units / 32.3% ROI) in Pune to recover the 78-unit deficit. Replicate shelf planogram and staffing model.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65760" y="2313432"/>
            <a:ext cx="8412480" cy="10241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760" y="2313432"/>
            <a:ext cx="64008" cy="1024128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02920" y="2532888"/>
            <a:ext cx="566928" cy="566928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920" y="2551176"/>
            <a:ext cx="5669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188720" y="2404872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Correction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188720" y="2752344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Clothing shelf space in Delhi (469 units, 29% ROI) and pivot toward Personal Care which delivers consistent 28.7% ROI across all 6 cities.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65760" y="3483864"/>
            <a:ext cx="8412480" cy="10241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65760" y="3483864"/>
            <a:ext cx="64008" cy="10241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02920" y="3703320"/>
            <a:ext cx="566928" cy="5669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2920" y="3721608"/>
            <a:ext cx="5669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188720" y="3575304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Bundling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188720" y="3922776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 Electronics alongside Pune's Home Care (549 units) to lift Electronics ROI from current 47K profit. Bundle promotions can raise combined margin by ~3–5%.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365760" y="482803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covers 6 cities · 5 product categories · FY Sales Period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4206240"/>
            <a:ext cx="8961120" cy="93726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91840" y="365760"/>
            <a:ext cx="2560320" cy="1005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6002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spc="600" kern="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800" dirty="0"/>
          </a:p>
        </p:txBody>
      </p:sp>
      <p:sp>
        <p:nvSpPr>
          <p:cNvPr id="6" name="Text 3"/>
          <p:cNvSpPr/>
          <p:nvPr/>
        </p:nvSpPr>
        <p:spPr>
          <a:xfrm>
            <a:off x="457200" y="2651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Report  |  Six Cities · Five Categories  |  FY Period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3154680"/>
            <a:ext cx="190195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57C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48640" y="3236976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15,345 Units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633472" y="3154680"/>
            <a:ext cx="190195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57C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633472" y="3236976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$2.9M Revenue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18304" y="3154680"/>
            <a:ext cx="190195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57C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718304" y="3236976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$865K Profit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803136" y="3154680"/>
            <a:ext cx="190195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57C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803136" y="3236976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29.7% ROI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65760" y="43159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Avenue Supermarts Limited  |  Analytics &amp; Strategy Team  |  Confidential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DMart Sales Performance Report</dc:title>
  <dc:subject>PptxGenJS Presentation</dc:subject>
  <dc:creator>Analytics Team</dc:creator>
  <cp:lastModifiedBy>Analytics Team</cp:lastModifiedBy>
  <cp:revision>1</cp:revision>
  <dcterms:created xsi:type="dcterms:W3CDTF">2026-05-24T10:53:43Z</dcterms:created>
  <dcterms:modified xsi:type="dcterms:W3CDTF">2026-05-24T10:53:43Z</dcterms:modified>
</cp:coreProperties>
</file>